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40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09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33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0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8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6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4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11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69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44075-AC95-4F01-93CC-F8F8F15D6320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3872B-4205-4BE1-B7C1-8A0D425D0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9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6234BCC6-39B9-47D9-8BF8-C665401A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53596-034C-BC8C-71DE-4B1DC3ABE1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86" r="-2" b="205"/>
          <a:stretch>
            <a:fillRect/>
          </a:stretch>
        </p:blipFill>
        <p:spPr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C17567-60FF-FCFC-8E2D-BF4F446329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346" r="-2" b="-2"/>
          <a:stretch>
            <a:fillRect/>
          </a:stretch>
        </p:blipFill>
        <p:spPr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40" name="Freeform: Shape 39">
            <a:extLst>
              <a:ext uri="{FF2B5EF4-FFF2-40B4-BE49-F238E27FC236}">
                <a16:creationId xmlns:a16="http://schemas.microsoft.com/office/drawing/2014/main" id="{72A9CE9D-DAC3-40AF-B504-78A64A909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506D7452-6CDE-4381-86CE-07B245938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92438-E08D-A7D9-38A8-D8FC4F46F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1" y="1524659"/>
            <a:ext cx="5665757" cy="2774088"/>
          </a:xfrm>
        </p:spPr>
        <p:txBody>
          <a:bodyPr>
            <a:normAutofit/>
          </a:bodyPr>
          <a:lstStyle/>
          <a:p>
            <a:pPr algn="l"/>
            <a:r>
              <a:rPr lang="en-US" sz="4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Lightweight</a:t>
            </a:r>
            <a:r>
              <a:rPr lang="en-US" sz="4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4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YOLO</a:t>
            </a:r>
            <a:r>
              <a:rPr lang="en-US" sz="4600" dirty="0">
                <a:latin typeface="Verdana" panose="020B0604030504040204" pitchFamily="34" charset="0"/>
                <a:ea typeface="Verdana" panose="020B0604030504040204" pitchFamily="34" charset="0"/>
              </a:rPr>
              <a:t> for Real-Time UAV Detection in Urban Places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1FEF5-316D-6C38-9F9C-ABA619E97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2" y="4687367"/>
            <a:ext cx="4917948" cy="1335024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Justin-Marian Popescu</a:t>
            </a:r>
          </a:p>
          <a:p>
            <a:pPr algn="l"/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Alfred-Andrei</a:t>
            </a:r>
            <a:r>
              <a:rPr lang="en-US" sz="2800" dirty="0"/>
              <a:t> </a:t>
            </a:r>
            <a:r>
              <a:rPr lang="en-US" sz="2800" dirty="0" err="1"/>
              <a:t>Pietraru</a:t>
            </a:r>
            <a:endParaRPr lang="en-US" sz="28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62DA937-8B55-4317-BD32-98D7AF30E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2EE5A8-045B-4D39-8ED1-51333408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098" y="4461119"/>
            <a:ext cx="501907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04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1" name="Rectangle 309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537CB7-4657-EA17-2B2E-D2FEE84EC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US" sz="5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</a:t>
            </a:r>
            <a:endParaRPr lang="en-US" sz="5400" b="1"/>
          </a:p>
        </p:txBody>
      </p:sp>
      <p:sp>
        <p:nvSpPr>
          <p:cNvPr id="309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86" name="Picture 14" descr="Open Category - Directorate of Civil Aviation - The Luxembourg Government">
            <a:extLst>
              <a:ext uri="{FF2B5EF4-FFF2-40B4-BE49-F238E27FC236}">
                <a16:creationId xmlns:a16="http://schemas.microsoft.com/office/drawing/2014/main" id="{1F21C34D-7483-299C-0971-6087FD955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630936"/>
            <a:ext cx="6605286" cy="391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10703-2A42-0150-78C6-75BC3E928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anchor="t">
            <a:normAutofit/>
          </a:bodyPr>
          <a:lstStyle/>
          <a:p>
            <a:r>
              <a:rPr lang="en-US" sz="1700" dirty="0"/>
              <a:t>Safety legislation in Europe for UAVs</a:t>
            </a:r>
          </a:p>
          <a:p>
            <a:r>
              <a:rPr lang="en-US" sz="1700" dirty="0"/>
              <a:t>Open Category </a:t>
            </a:r>
            <a:r>
              <a:rPr lang="en-US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Drone</a:t>
            </a:r>
            <a:r>
              <a:rPr lang="en-US" sz="1700" dirty="0"/>
              <a:t> type - small, up to 25kg, height less than 120m</a:t>
            </a:r>
          </a:p>
          <a:p>
            <a:r>
              <a:rPr lang="en-US" sz="1700" dirty="0"/>
              <a:t>Object detection task - real time, high image resolution, small objects </a:t>
            </a:r>
          </a:p>
        </p:txBody>
      </p:sp>
    </p:spTree>
    <p:extLst>
      <p:ext uri="{BB962C8B-B14F-4D97-AF65-F5344CB8AC3E}">
        <p14:creationId xmlns:p14="http://schemas.microsoft.com/office/powerpoint/2010/main" val="2481662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26A38-53FE-29F9-4898-FA1BBD6C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761" y="616869"/>
            <a:ext cx="2762056" cy="9310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Software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1DC4E-4CFF-DE1A-7CEF-86186C4CA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14" y="1903305"/>
            <a:ext cx="5645608" cy="2204508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dirty="0" err="1"/>
              <a:t>PyTorch</a:t>
            </a:r>
            <a:r>
              <a:rPr lang="en-US" sz="2400" dirty="0"/>
              <a:t> for model training and validation</a:t>
            </a:r>
          </a:p>
          <a:p>
            <a:r>
              <a:rPr lang="en-US" sz="2400" b="1" dirty="0" err="1"/>
              <a:t>TensorLite</a:t>
            </a:r>
            <a:r>
              <a:rPr lang="en-US" sz="2400" dirty="0"/>
              <a:t> (TensorFlow Lite) for lightweight, on device inference.</a:t>
            </a:r>
          </a:p>
          <a:p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Voxel51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results visualization</a:t>
            </a:r>
          </a:p>
          <a:p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Tensorboard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real-time training visualization scores   </a:t>
            </a:r>
          </a:p>
          <a:p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ONNX, </a:t>
            </a:r>
            <a:r>
              <a:rPr lang="en-US" sz="2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Tensorflow</a:t>
            </a:r>
            <a:r>
              <a:rPr lang="en-US" sz="2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TFLite 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exporting model to the embedded device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C5658-D6A6-B190-4EB7-31D7C144CE8C}"/>
              </a:ext>
            </a:extLst>
          </p:cNvPr>
          <p:cNvSpPr txBox="1"/>
          <p:nvPr/>
        </p:nvSpPr>
        <p:spPr>
          <a:xfrm>
            <a:off x="6410737" y="1844661"/>
            <a:ext cx="5645608" cy="2395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Google Coral USB accelerator for testing with </a:t>
            </a:r>
            <a:r>
              <a:rPr lang="en-US" sz="19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8MB</a:t>
            </a:r>
            <a:r>
              <a:rPr lang="en-US" sz="1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total space for model with quantization settled on </a:t>
            </a:r>
            <a:r>
              <a:rPr lang="en-US" sz="19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INT8</a:t>
            </a:r>
            <a:r>
              <a:rPr lang="en-US" sz="19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only inference support   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Model training is performed on a </a:t>
            </a:r>
            <a:r>
              <a:rPr lang="en-US" sz="1900" b="1" dirty="0"/>
              <a:t>GeForce RTX 5090 GPU</a:t>
            </a:r>
            <a:r>
              <a:rPr lang="en-US" sz="1900" dirty="0"/>
              <a:t> using the </a:t>
            </a:r>
            <a:r>
              <a:rPr lang="en-US" sz="1900" b="1" dirty="0" err="1"/>
              <a:t>RunPod</a:t>
            </a:r>
            <a:r>
              <a:rPr lang="en-US" sz="1900" dirty="0"/>
              <a:t> cloud platform, with all project code, experiments, and configurations managed through </a:t>
            </a:r>
            <a:r>
              <a:rPr lang="en-US" sz="1900" b="1" dirty="0"/>
              <a:t>GitHub</a:t>
            </a:r>
            <a:r>
              <a:rPr lang="en-US" sz="1900" dirty="0"/>
              <a:t> for version control and collaboration.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0595E-3C86-2D85-5833-2D2FF9FB1E42}"/>
              </a:ext>
            </a:extLst>
          </p:cNvPr>
          <p:cNvSpPr txBox="1"/>
          <p:nvPr/>
        </p:nvSpPr>
        <p:spPr>
          <a:xfrm>
            <a:off x="7850952" y="541983"/>
            <a:ext cx="2633287" cy="602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4400"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Hardware</a:t>
            </a:r>
          </a:p>
        </p:txBody>
      </p:sp>
      <p:pic>
        <p:nvPicPr>
          <p:cNvPr id="2050" name="Picture 2" descr="RunPod Partners with vLLM to Accelerate AI Inference">
            <a:extLst>
              <a:ext uri="{FF2B5EF4-FFF2-40B4-BE49-F238E27FC236}">
                <a16:creationId xmlns:a16="http://schemas.microsoft.com/office/drawing/2014/main" id="{0AF397F6-AC2E-14E9-6F3D-7EDC8E7E5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259" y="3989534"/>
            <a:ext cx="2420964" cy="1210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uy Google Coral TPU USB-Accelarator CPU card | Conrad Electronic">
            <a:extLst>
              <a:ext uri="{FF2B5EF4-FFF2-40B4-BE49-F238E27FC236}">
                <a16:creationId xmlns:a16="http://schemas.microsoft.com/office/drawing/2014/main" id="{516B3E9E-B982-6D9F-F4D1-DAA7A00C1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737" y="4298319"/>
            <a:ext cx="2117708" cy="211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56246C88-FBA4-9324-2408-1C5BD7DD3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14" y="4205860"/>
            <a:ext cx="6015633" cy="198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8979CF-F67A-5C79-ABEF-7BCDB20A7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971619" y="-3428269"/>
            <a:ext cx="419450" cy="9340846"/>
          </a:xfrm>
          <a:prstGeom prst="rect">
            <a:avLst/>
          </a:prstGeom>
        </p:spPr>
      </p:pic>
      <p:pic>
        <p:nvPicPr>
          <p:cNvPr id="2062" name="Picture 14" descr="Runpod Hub | The fastest way to fork and deploy open-source AI">
            <a:extLst>
              <a:ext uri="{FF2B5EF4-FFF2-40B4-BE49-F238E27FC236}">
                <a16:creationId xmlns:a16="http://schemas.microsoft.com/office/drawing/2014/main" id="{B0F9741B-0CB3-255C-69F6-F46DEFCE4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296" y="5156756"/>
            <a:ext cx="3356891" cy="125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02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0" name="Rectangle 1049">
            <a:extLst>
              <a:ext uri="{FF2B5EF4-FFF2-40B4-BE49-F238E27FC236}">
                <a16:creationId xmlns:a16="http://schemas.microsoft.com/office/drawing/2014/main" id="{115719BB-48A7-4AF4-BB91-DC82E0DF7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52" name="Freeform: Shape 1051">
            <a:extLst>
              <a:ext uri="{FF2B5EF4-FFF2-40B4-BE49-F238E27FC236}">
                <a16:creationId xmlns:a16="http://schemas.microsoft.com/office/drawing/2014/main" id="{10973A55-5440-4A99-B526-B5812E462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54" name="Freeform: Shape 1053">
            <a:extLst>
              <a:ext uri="{FF2B5EF4-FFF2-40B4-BE49-F238E27FC236}">
                <a16:creationId xmlns:a16="http://schemas.microsoft.com/office/drawing/2014/main" id="{A9682493-588A-4D52-98F6-FBBD80C07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04FA2-CC22-F4B2-EE0C-094396C4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170432"/>
          </a:xfrm>
        </p:spPr>
        <p:txBody>
          <a:bodyPr anchor="b">
            <a:normAutofit/>
          </a:bodyPr>
          <a:lstStyle/>
          <a:p>
            <a:r>
              <a:rPr lang="en-US" sz="3400" dirty="0"/>
              <a:t>YOLO </a:t>
            </a:r>
            <a:r>
              <a:rPr lang="en-US" sz="3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architecture</a:t>
            </a:r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FBEC5A7A-ADE4-48D9-B89C-2BA1C911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21D5F-C880-CEC3-F480-B72C5B529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sz="1800" dirty="0"/>
              <a:t>As an </a:t>
            </a:r>
            <a:r>
              <a:rPr lang="en-US" sz="1800" b="1" dirty="0"/>
              <a:t>open-source architecture</a:t>
            </a:r>
            <a:r>
              <a:rPr lang="en-US" sz="1800" dirty="0"/>
              <a:t>, YOLO has evolved through multiple optimized versions (</a:t>
            </a:r>
            <a:r>
              <a:rPr lang="en-US" sz="1800" b="1" dirty="0"/>
              <a:t>v5 to v11</a:t>
            </a:r>
            <a:r>
              <a:rPr lang="en-US" sz="1800" dirty="0"/>
              <a:t>) offering improvements in </a:t>
            </a:r>
            <a:r>
              <a:rPr lang="en-US" sz="1800" b="1" dirty="0"/>
              <a:t>speed, accuracy, and deployment efficiency</a:t>
            </a:r>
            <a:r>
              <a:rPr lang="en-US" sz="1800" dirty="0"/>
              <a:t>.</a:t>
            </a:r>
          </a:p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Extensive community support, wide range of research material</a:t>
            </a:r>
          </a:p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Metrics: </a:t>
            </a:r>
            <a:r>
              <a:rPr lang="en-US" sz="18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mAP50, mAP95, F1-Score, parameter number, inference speed, GFLOPs.</a:t>
            </a:r>
          </a:p>
        </p:txBody>
      </p:sp>
      <p:pic>
        <p:nvPicPr>
          <p:cNvPr id="1028" name="Picture 4" descr="FiftyOne — FiftyOne 1.8.1 documentation">
            <a:extLst>
              <a:ext uri="{FF2B5EF4-FFF2-40B4-BE49-F238E27FC236}">
                <a16:creationId xmlns:a16="http://schemas.microsoft.com/office/drawing/2014/main" id="{4A1EDB2D-4C86-6643-58B3-EAE83A4CC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0255" y="4082758"/>
            <a:ext cx="5138928" cy="139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ltralytics YOLO | Ultralytics (ST partner) - STMicroelectronics">
            <a:extLst>
              <a:ext uri="{FF2B5EF4-FFF2-40B4-BE49-F238E27FC236}">
                <a16:creationId xmlns:a16="http://schemas.microsoft.com/office/drawing/2014/main" id="{1BD589DE-9A27-D3E0-02C3-46579FD59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589" y="1444752"/>
            <a:ext cx="4772025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713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153860BD-2B77-4099-8348-E7AB857C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BBEFE-8447-7C7B-F5E9-3839A6BAE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015" y="3930305"/>
            <a:ext cx="3861960" cy="2437244"/>
          </a:xfrm>
        </p:spPr>
        <p:txBody>
          <a:bodyPr anchor="ctr">
            <a:normAutofit/>
          </a:bodyPr>
          <a:lstStyle/>
          <a:p>
            <a:r>
              <a:rPr lang="en-US" sz="3600" b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Datasets</a:t>
            </a:r>
            <a:endParaRPr lang="en-US" sz="3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35578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3AE360-A0E8-BAE1-9BAF-6EE61885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1" r="29685" b="-1"/>
          <a:stretch>
            <a:fillRect/>
          </a:stretch>
        </p:blipFill>
        <p:spPr>
          <a:xfrm>
            <a:off x="778779" y="380770"/>
            <a:ext cx="2507107" cy="2811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1FABB8-80C8-5F9B-D672-03CA6ECF6D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63" r="23627" b="3"/>
          <a:stretch>
            <a:fillRect/>
          </a:stretch>
        </p:blipFill>
        <p:spPr>
          <a:xfrm>
            <a:off x="3544829" y="380769"/>
            <a:ext cx="2507982" cy="2811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74612B-CE62-0CBF-9358-A7A3DC91A9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769" r="14101" b="1"/>
          <a:stretch>
            <a:fillRect/>
          </a:stretch>
        </p:blipFill>
        <p:spPr>
          <a:xfrm>
            <a:off x="6259368" y="380769"/>
            <a:ext cx="2507982" cy="2811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A81E77-98AE-6BA4-53BD-C8C7199D873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787" r="13225" b="3"/>
          <a:stretch>
            <a:fillRect/>
          </a:stretch>
        </p:blipFill>
        <p:spPr>
          <a:xfrm>
            <a:off x="8973905" y="380770"/>
            <a:ext cx="2515016" cy="2811320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35346" y="5126067"/>
            <a:ext cx="219456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ADBE1-0ADB-0582-0688-9955BEC12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2719" y="3930305"/>
            <a:ext cx="6884041" cy="2437244"/>
          </a:xfrm>
        </p:spPr>
        <p:txBody>
          <a:bodyPr anchor="ctr">
            <a:normAutofit/>
          </a:bodyPr>
          <a:lstStyle/>
          <a:p>
            <a:r>
              <a:rPr lang="fr-FR" sz="17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Visdrone</a:t>
            </a:r>
            <a:r>
              <a:rPr lang="fr-FR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                                          10 classes, 10000 images</a:t>
            </a:r>
          </a:p>
          <a:p>
            <a:r>
              <a:rPr lang="fr-FR" sz="17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Standford</a:t>
            </a:r>
            <a:r>
              <a:rPr lang="fr-FR" sz="17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Drone </a:t>
            </a:r>
            <a:r>
              <a:rPr lang="fr-FR" sz="17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</a:t>
            </a:r>
            <a:r>
              <a:rPr lang="fr-FR" sz="17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(SSD)               </a:t>
            </a:r>
            <a:r>
              <a:rPr lang="fr-FR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 classes, 19000 images </a:t>
            </a:r>
          </a:p>
          <a:p>
            <a:r>
              <a:rPr lang="fr-FR" sz="17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AU-AIR   </a:t>
            </a:r>
            <a:r>
              <a:rPr lang="fr-FR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                                            7 classes, </a:t>
            </a:r>
            <a:r>
              <a:rPr lang="fr-FR" sz="17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32000 images</a:t>
            </a:r>
            <a:endParaRPr lang="fr-FR" sz="17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fr-FR" sz="17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UAVDT</a:t>
            </a:r>
            <a:r>
              <a:rPr lang="fr-FR" sz="17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                                               4 classes, 78000 images</a:t>
            </a:r>
            <a:endParaRPr lang="en-US" sz="17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116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</TotalTime>
  <Words>231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Avenir Next LT Pro</vt:lpstr>
      <vt:lpstr>Calibri</vt:lpstr>
      <vt:lpstr>Calibri Light</vt:lpstr>
      <vt:lpstr>Roboto</vt:lpstr>
      <vt:lpstr>Tahoma</vt:lpstr>
      <vt:lpstr>Verdana</vt:lpstr>
      <vt:lpstr>Office 2013 - 2022 Theme</vt:lpstr>
      <vt:lpstr>Lightweight YOLO for Real-Time UAV Detection in Urban Places</vt:lpstr>
      <vt:lpstr>Problem</vt:lpstr>
      <vt:lpstr>Software </vt:lpstr>
      <vt:lpstr>YOLO architecture</vt:lpstr>
      <vt:lpstr>Datasets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Stochirlea Ingrid</dc:creator>
  <cp:lastModifiedBy>Justin-Marian POPESCU (124443)</cp:lastModifiedBy>
  <cp:revision>13</cp:revision>
  <dcterms:created xsi:type="dcterms:W3CDTF">2025-10-19T14:50:44Z</dcterms:created>
  <dcterms:modified xsi:type="dcterms:W3CDTF">2025-10-19T16:35:20Z</dcterms:modified>
</cp:coreProperties>
</file>