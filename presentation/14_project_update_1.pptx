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268" y="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A1E4-5C70-926E-2031-4E5B7210C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B2EEC-BFF0-F79F-A364-4F913EA02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CE019-2384-493A-35F5-4FA017F3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03637-B06F-3026-F94B-751C4CFA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978E4-1ADE-A5ED-1444-B642F2F7A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94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2703-AE3F-0931-42AA-861F9F37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903BF-5D0E-36BD-2553-0DE2E0198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7BB6D-C23D-AF1F-407C-CB8945E6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C27ED-8552-038C-E1B2-A87B27C9D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ACB8C-891F-D241-4571-0858C4816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8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6B63-EDD0-0B60-0208-B41D16B5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5DE89-1DCF-6A6E-28F9-0AA30E8BD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ACBAD-05A1-0031-E586-C9605EA7F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2199B-BFCB-4E8F-66A7-6B2EFC90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8C285-AC2A-D004-3C96-E1968B6F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70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300E-D03D-1EE9-0876-F4F01C28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BC677-C528-31EF-57B6-17E3B27C7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07020-EA0E-B8D4-A9BC-AA850E4F4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911C1-1254-E4BE-D152-D7E862E81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8B521-1BBD-A766-6C45-D2E12D0B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0B18B-CBD8-4444-8647-0EA1E5FF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1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C345A-CD07-EDC8-1EB8-E0C759C00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1C3A9-2B5C-EECD-CEE0-A9A060694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8F7BB-E495-344D-869E-99ACC47E3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49DC6-CCF0-1E82-2CB2-5644EFE59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EDB3C9-A9B8-8317-6349-DA275EE5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4CC80-0C49-8079-345E-34DBD84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F420E8-21EA-2C08-418E-ABA941DF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05B92-947C-C1C3-608A-52CE6C2F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0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52B0-6EDA-861F-9B52-F4306BBC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C1101-36A0-100D-868B-BE9854904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B4AF5-D81E-A3A4-483C-E47EDC07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E9447-B6EB-AC98-1DD2-3EC23108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57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FC1D8-F333-12F7-0780-CFE88954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C1C6E-5D28-1D39-E231-65B99B48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CBB0D-39EA-250B-A09E-495419B6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96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5BFC-61F7-5DF2-A1DE-8E39105F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2207E-9A74-A87F-7A08-C3281907D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F7315-B6F4-C99D-3F4F-30895818A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B8A8E-FBB2-C311-FEAC-C0B22F48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F907D-3975-188D-0494-738F596AA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5240E-0B59-A753-AADB-F2F0CA68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5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01A07-7699-1A08-35E7-6289CCE52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B0950-4116-97FC-6B96-D2A0D91A0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E4BE5-8EEE-73F9-4B80-B0C2A57AA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450D-CC72-3955-4234-E79A0CD1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EDF8-2D50-DCA1-D250-526214CA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094FF-726A-3FF2-1EEF-06EC9240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4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2B9C4-6EE2-370F-E8C1-5FC69529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3B52B-3D90-A245-9225-E9174D932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2320C-2BC8-7149-2032-7AFB4F4F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C18B-61FB-A31E-50C9-66EB04F0B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6CF03-4F44-319B-7CCC-CFA87EB5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83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680DCE-B84A-B63D-33FB-69B2855B7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63DFF-27DB-2A65-7C56-38D80E256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CFFE2-8D23-888C-7FEA-208009371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D5506-0934-31D4-62DA-7ABB4BA26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19E54-301A-99F8-817C-95C59598A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6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7EDC62-D811-6346-B1C6-D8713499F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17395-1634-32B2-8222-2CC200400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8F754-D222-E977-6193-27F52FDE0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1A0CA-664B-41B4-855D-FE82233D04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BF4BB-A62B-DE54-FA19-9CAEFA7D0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96F2B-1F7D-F52D-2A22-3238F96C9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1A247-9FFF-4537-823A-C212CA78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2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svcode.github.io/MedicalImaging/cmaps/medical_imaging/dicoms/bounding_boxes/2021/08/17/Creating_Bounding-Boxes-From-Class-Activation-Maps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21A7E6-10D6-D1BA-DD0C-CD11A20BF72C}"/>
              </a:ext>
            </a:extLst>
          </p:cNvPr>
          <p:cNvSpPr txBox="1"/>
          <p:nvPr/>
        </p:nvSpPr>
        <p:spPr>
          <a:xfrm>
            <a:off x="487497" y="201090"/>
            <a:ext cx="9707045" cy="1131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Semi-Supervised Object Detection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Unbiased Teacher-Student 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F1B7D42-B084-8411-35A0-A5B0FCD7C43A}"/>
              </a:ext>
            </a:extLst>
          </p:cNvPr>
          <p:cNvSpPr/>
          <p:nvPr/>
        </p:nvSpPr>
        <p:spPr>
          <a:xfrm>
            <a:off x="592757" y="1409828"/>
            <a:ext cx="73450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Our framework enhances object detection performance with limited labeled data by leveraging a dynamic Teacher-Student training strategy. This approach is designed for robustness and efficiency in environments where extensive annotation is impractical or costly.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92FCE-2777-C210-96B1-D2ED5421AA10}"/>
              </a:ext>
            </a:extLst>
          </p:cNvPr>
          <p:cNvSpPr txBox="1"/>
          <p:nvPr/>
        </p:nvSpPr>
        <p:spPr>
          <a:xfrm>
            <a:off x="9693456" y="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1D1D1B"/>
                </a:solidFill>
                <a:latin typeface="Tomorrow" panose="020B0604020202020204" charset="0"/>
              </a:rPr>
              <a:t>Pietraru</a:t>
            </a:r>
            <a:r>
              <a:rPr lang="en-US" dirty="0">
                <a:solidFill>
                  <a:srgbClr val="1D1D1B"/>
                </a:solidFill>
                <a:latin typeface="Tomorrow" panose="020B0604020202020204" charset="0"/>
              </a:rPr>
              <a:t> Alfred-Andrei</a:t>
            </a:r>
            <a:br>
              <a:rPr lang="en-US" dirty="0">
                <a:solidFill>
                  <a:srgbClr val="1D1D1B"/>
                </a:solidFill>
                <a:latin typeface="Tomorrow" panose="020B0604020202020204" charset="0"/>
              </a:rPr>
            </a:br>
            <a:r>
              <a:rPr lang="en-US" dirty="0">
                <a:solidFill>
                  <a:srgbClr val="1D1D1B"/>
                </a:solidFill>
                <a:latin typeface="Tomorrow" panose="020B0604020202020204" charset="0"/>
              </a:rPr>
              <a:t>Popescu Justin-Marian</a:t>
            </a:r>
            <a:endParaRPr lang="en-US" dirty="0">
              <a:latin typeface="Tomorrow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C865D7-88FB-8B8D-F3D1-D810E5990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085" y="2498536"/>
            <a:ext cx="3994913" cy="23303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1ADDC6-CF19-CA99-6E64-D5A308685B00}"/>
              </a:ext>
            </a:extLst>
          </p:cNvPr>
          <p:cNvSpPr txBox="1"/>
          <p:nvPr/>
        </p:nvSpPr>
        <p:spPr>
          <a:xfrm>
            <a:off x="487497" y="4140693"/>
            <a:ext cx="78287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Teacher: YOLOn11 </a:t>
            </a:r>
            <a:r>
              <a:rPr lang="en-US" dirty="0"/>
              <a:t>model fine-tuned on labeled set, federated-pretrained</a:t>
            </a:r>
            <a:r>
              <a:rPr lang="en-US" dirty="0">
                <a:latin typeface="Tomorrow" panose="020B0604020202020204" charset="0"/>
              </a:rPr>
              <a:t>.</a:t>
            </a:r>
          </a:p>
          <a:p>
            <a:pPr>
              <a:buNone/>
            </a:pPr>
            <a:r>
              <a:rPr lang="en-US" b="1" dirty="0"/>
              <a:t>Student: Grad-CAM++ </a:t>
            </a:r>
            <a:r>
              <a:rPr lang="en-US" dirty="0"/>
              <a:t>enhanced localization head (Multi-Scale CAM Head)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Tomorrow" panose="020B0604020202020204" charset="0"/>
              </a:rPr>
              <a:t>   </a:t>
            </a:r>
            <a:r>
              <a:rPr lang="en-US" b="1" dirty="0"/>
              <a:t>ResNet50</a:t>
            </a:r>
            <a:r>
              <a:rPr lang="en-US" b="1" dirty="0">
                <a:latin typeface="Tomorrow" panose="020B0604020202020204" charset="0"/>
              </a:rPr>
              <a:t> </a:t>
            </a:r>
            <a:r>
              <a:rPr lang="en-US" dirty="0"/>
              <a:t>pretrained on </a:t>
            </a:r>
            <a:r>
              <a:rPr lang="en-US" dirty="0" err="1"/>
              <a:t>Imagenet</a:t>
            </a:r>
            <a:r>
              <a:rPr lang="en-US" dirty="0"/>
              <a:t> dataset.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</a:t>
            </a:r>
            <a:r>
              <a:rPr lang="en-US" dirty="0">
                <a:latin typeface="Tomorrow" panose="020B0604020202020204" charset="0"/>
              </a:rPr>
              <a:t> </a:t>
            </a:r>
            <a:r>
              <a:rPr lang="en-US" b="1" dirty="0"/>
              <a:t>activation heatmaps </a:t>
            </a:r>
            <a:r>
              <a:rPr lang="en-US" dirty="0"/>
              <a:t>to derive bounding boxes.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Lightweight and stable under strong augmentation.</a:t>
            </a:r>
          </a:p>
          <a:p>
            <a:endParaRPr lang="en-US" dirty="0">
              <a:latin typeface="Tomorrow" panose="020B0604020202020204" charset="0"/>
            </a:endParaRPr>
          </a:p>
          <a:p>
            <a:r>
              <a:rPr lang="en-US" b="1" dirty="0"/>
              <a:t>EMA (Exponential Moving Average): </a:t>
            </a:r>
            <a:r>
              <a:rPr lang="en-US" dirty="0"/>
              <a:t>handles class imbalance &amp; false positives more robustly than classical pseudo-labeling.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0801D4-2EC7-E784-AF7F-4619700ACC4E}"/>
              </a:ext>
            </a:extLst>
          </p:cNvPr>
          <p:cNvSpPr txBox="1"/>
          <p:nvPr/>
        </p:nvSpPr>
        <p:spPr>
          <a:xfrm>
            <a:off x="487497" y="2575297"/>
            <a:ext cx="8489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Core Idea (Unbiased Teacher)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Teacher generates </a:t>
            </a:r>
            <a:r>
              <a:rPr lang="en-US" b="1" dirty="0"/>
              <a:t>pseudo-labels </a:t>
            </a:r>
            <a:r>
              <a:rPr lang="en-US" dirty="0"/>
              <a:t>for unlabeled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 Student is trained on strong augmentations using these pseudo-labels.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 Student’s learned weights feed back into the teacher through </a:t>
            </a:r>
          </a:p>
        </p:txBody>
      </p:sp>
    </p:spTree>
    <p:extLst>
      <p:ext uri="{BB962C8B-B14F-4D97-AF65-F5344CB8AC3E}">
        <p14:creationId xmlns:p14="http://schemas.microsoft.com/office/powerpoint/2010/main" val="2395862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5C1C3C-F726-50E0-3623-72F288D61738}"/>
              </a:ext>
            </a:extLst>
          </p:cNvPr>
          <p:cNvSpPr txBox="1"/>
          <p:nvPr/>
        </p:nvSpPr>
        <p:spPr>
          <a:xfrm>
            <a:off x="9693456" y="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1D1D1B"/>
                </a:solidFill>
                <a:latin typeface="Tomorrow" panose="020B0604020202020204" charset="0"/>
              </a:rPr>
              <a:t>Pietraru</a:t>
            </a:r>
            <a:r>
              <a:rPr lang="en-US" dirty="0">
                <a:solidFill>
                  <a:srgbClr val="1D1D1B"/>
                </a:solidFill>
                <a:latin typeface="Tomorrow" panose="020B0604020202020204" charset="0"/>
              </a:rPr>
              <a:t> Alfred-Andrei</a:t>
            </a:r>
            <a:br>
              <a:rPr lang="en-US" dirty="0">
                <a:solidFill>
                  <a:srgbClr val="1D1D1B"/>
                </a:solidFill>
                <a:latin typeface="Tomorrow" panose="020B0604020202020204" charset="0"/>
              </a:rPr>
            </a:br>
            <a:r>
              <a:rPr lang="en-US" dirty="0">
                <a:solidFill>
                  <a:srgbClr val="1D1D1B"/>
                </a:solidFill>
                <a:latin typeface="Tomorrow" panose="020B0604020202020204" charset="0"/>
              </a:rPr>
              <a:t>Popescu Justin-Marian</a:t>
            </a:r>
            <a:endParaRPr lang="en-US" dirty="0">
              <a:latin typeface="Tomorrow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62888-C1FC-7C71-E144-AA20145D6EBB}"/>
              </a:ext>
            </a:extLst>
          </p:cNvPr>
          <p:cNvSpPr txBox="1"/>
          <p:nvPr/>
        </p:nvSpPr>
        <p:spPr>
          <a:xfrm>
            <a:off x="419317" y="767139"/>
            <a:ext cx="8330664" cy="1200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>
              <a:lnSpc>
                <a:spcPts val="2850"/>
              </a:lnSpc>
              <a:buNone/>
              <a:defRPr sz="175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defRPr>
            </a:lvl1pPr>
          </a:lstStyle>
          <a:p>
            <a:r>
              <a:rPr lang="en-US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Teacher-Student Ensemble: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YOLOn11(teacher)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Resnet50 with Grad-CAM++ detector(student)</a:t>
            </a:r>
          </a:p>
        </p:txBody>
      </p:sp>
      <p:pic>
        <p:nvPicPr>
          <p:cNvPr id="7" name="Picture 6" descr="A diagram of a student mu&#10;&#10;AI-generated content may be incorrect.">
            <a:extLst>
              <a:ext uri="{FF2B5EF4-FFF2-40B4-BE49-F238E27FC236}">
                <a16:creationId xmlns:a16="http://schemas.microsoft.com/office/drawing/2014/main" id="{CC1070FF-D9A8-57F5-6AF2-699735FDB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719" y="1941972"/>
            <a:ext cx="6540281" cy="24200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7F6FFE-8BF0-D242-83CA-505781D8BA86}"/>
              </a:ext>
            </a:extLst>
          </p:cNvPr>
          <p:cNvSpPr txBox="1"/>
          <p:nvPr/>
        </p:nvSpPr>
        <p:spPr>
          <a:xfrm>
            <a:off x="332266" y="2413337"/>
            <a:ext cx="85047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CAM-Head Instead of RPN/ROI?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Simpler and better suited for unlabeled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Avoids anchor tuning and region proposals.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Directly exploits </a:t>
            </a:r>
            <a:r>
              <a:rPr lang="en-US" b="1" dirty="0"/>
              <a:t>class activation localization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7E3AD5-3C23-C172-A261-D01FEF660982}"/>
              </a:ext>
            </a:extLst>
          </p:cNvPr>
          <p:cNvSpPr txBox="1"/>
          <p:nvPr/>
        </p:nvSpPr>
        <p:spPr>
          <a:xfrm>
            <a:off x="245215" y="4336535"/>
            <a:ext cx="85047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Procedure steps: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  Student backbone, </a:t>
            </a:r>
            <a:r>
              <a:rPr lang="en-US" i="1" dirty="0"/>
              <a:t>pretrained ResNet50 </a:t>
            </a:r>
            <a:r>
              <a:rPr lang="en-US" dirty="0"/>
              <a:t>→ class activation maps (CAMs).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  Threshold CAM values to isolate high-saliency regions.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  Convert connected high-activation clusters into raw boxes.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  Apply NMS to merge overlapping CAM clusters.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  Supervision uses </a:t>
            </a:r>
            <a:r>
              <a:rPr lang="en-US" i="1" dirty="0"/>
              <a:t>teacher YOLOn11 boxes</a:t>
            </a:r>
            <a:r>
              <a:rPr lang="en-US" dirty="0"/>
              <a:t> to guide CAM localization.</a:t>
            </a:r>
          </a:p>
        </p:txBody>
      </p:sp>
    </p:spTree>
    <p:extLst>
      <p:ext uri="{BB962C8B-B14F-4D97-AF65-F5344CB8AC3E}">
        <p14:creationId xmlns:p14="http://schemas.microsoft.com/office/powerpoint/2010/main" val="813969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EAE80B9-CF03-5CB6-FA41-10CEE928E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140" y="719214"/>
            <a:ext cx="5627826" cy="5903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AF0ACB-1912-55FF-FE60-E1A38EBE3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106" y="3099585"/>
            <a:ext cx="6413894" cy="65882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33F8B0D-2E42-D5A7-B6C4-99450A38BDB2}"/>
              </a:ext>
            </a:extLst>
          </p:cNvPr>
          <p:cNvSpPr txBox="1"/>
          <p:nvPr/>
        </p:nvSpPr>
        <p:spPr>
          <a:xfrm>
            <a:off x="216119" y="429738"/>
            <a:ext cx="8489482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omorrow" pitchFamily="34" charset="0"/>
              </a:rPr>
              <a:t>Phase 1 Burn-In (Supervised Stage)</a:t>
            </a:r>
          </a:p>
          <a:p>
            <a:pPr>
              <a:buNone/>
            </a:pPr>
            <a:endParaRPr lang="en-US" b="1" dirty="0">
              <a:latin typeface="Tomorrow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omorrow" panose="020B0604020202020204" charset="0"/>
              </a:rPr>
              <a:t>  </a:t>
            </a:r>
            <a:r>
              <a:rPr lang="en-US" sz="1600" dirty="0"/>
              <a:t>Train YOLO-N11 teacher on the labeled subset.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   Ensures stable bounding-box priors before entering SSL.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E4BB29-D2A0-9173-1CEF-A2BD82489722}"/>
              </a:ext>
            </a:extLst>
          </p:cNvPr>
          <p:cNvSpPr txBox="1"/>
          <p:nvPr/>
        </p:nvSpPr>
        <p:spPr>
          <a:xfrm>
            <a:off x="200835" y="1885370"/>
            <a:ext cx="848948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omorrow" pitchFamily="34" charset="0"/>
              </a:rPr>
              <a:t>Phase 2 Teacher-Student Mutual Learning</a:t>
            </a:r>
          </a:p>
          <a:p>
            <a:endParaRPr lang="en-US" sz="1750" b="1" dirty="0">
              <a:latin typeface="Tomorrow" pitchFamily="34" charset="0"/>
            </a:endParaRPr>
          </a:p>
          <a:p>
            <a:r>
              <a:rPr lang="en-US" sz="1600" b="1" dirty="0"/>
              <a:t>Teacher Inference (Weak Aug):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YOLO-N11 predicts boxes + class scores on weakly augmented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Apply </a:t>
            </a:r>
            <a:r>
              <a:rPr lang="en-US" sz="1600" b="1" dirty="0"/>
              <a:t>NMS</a:t>
            </a:r>
            <a:r>
              <a:rPr lang="en-US" sz="1600" dirty="0"/>
              <a:t> (to remove duplicates) + </a:t>
            </a:r>
            <a:r>
              <a:rPr lang="en-US" sz="1600" b="1" dirty="0"/>
              <a:t>confidence threshold</a:t>
            </a:r>
            <a:r>
              <a:rPr lang="en-US" sz="1600" dirty="0"/>
              <a:t> </a:t>
            </a:r>
            <a:r>
              <a:rPr lang="en-US" sz="1600" b="1" dirty="0"/>
              <a:t>0.5.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BD5A68-3F77-EC4F-2CD0-9749AD4E0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321" y="5640697"/>
            <a:ext cx="1715464" cy="43839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BADC9F3-2019-AA75-6C38-CF96EF3C0F36}"/>
              </a:ext>
            </a:extLst>
          </p:cNvPr>
          <p:cNvSpPr txBox="1"/>
          <p:nvPr/>
        </p:nvSpPr>
        <p:spPr>
          <a:xfrm>
            <a:off x="185551" y="3402139"/>
            <a:ext cx="850476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Student Learning (Strong Aug):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Student CAM-head receives the strong-augmented version.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Loss for Student: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Classification loss (CAM heatmap → </a:t>
            </a:r>
            <a:r>
              <a:rPr lang="en-US" sz="1600" dirty="0" err="1"/>
              <a:t>bboxes</a:t>
            </a:r>
            <a:r>
              <a:rPr lang="en-US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Object detection loss offered by </a:t>
            </a:r>
            <a:r>
              <a:rPr lang="en-US" sz="1600" dirty="0" err="1"/>
              <a:t>mIoU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Box regression loss using teacher pseudo-labels</a:t>
            </a: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828BADF5-C171-9DD9-E7B2-58FFF08E0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80" y="5170610"/>
            <a:ext cx="7370320" cy="165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omorrow" pitchFamily="34" charset="0"/>
              </a:rPr>
              <a:t>Phase 3 </a:t>
            </a:r>
            <a:r>
              <a:rPr lang="en-US" altLang="en-US" b="1" dirty="0">
                <a:latin typeface="Tomorrow" pitchFamily="34" charset="0"/>
              </a:rPr>
              <a:t>Teacher Refinement (EMA)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 err="1"/>
              <a:t>Smooting</a:t>
            </a:r>
            <a:r>
              <a:rPr lang="en-US" altLang="en-US" sz="1600" b="1" dirty="0"/>
              <a:t> Teacher weights ← 0.6·Teacher + 0.4·Student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 err="1"/>
              <a:t>ths</a:t>
            </a:r>
            <a:r>
              <a:rPr lang="en-US" altLang="en-US" sz="1600" dirty="0"/>
              <a:t> training, prevents pseudo-label drift, reduces bias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EMA gives best </a:t>
            </a:r>
            <a:r>
              <a:rPr lang="en-US" altLang="en-US" sz="1600" dirty="0" err="1"/>
              <a:t>mAP</a:t>
            </a:r>
            <a:r>
              <a:rPr lang="en-US" altLang="en-US" sz="1600" dirty="0"/>
              <a:t> and balanced pseudo-label distribution.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530191C-3AE3-C040-7FE3-87B7E318E424}"/>
              </a:ext>
            </a:extLst>
          </p:cNvPr>
          <p:cNvCxnSpPr>
            <a:cxnSpLocks/>
          </p:cNvCxnSpPr>
          <p:nvPr/>
        </p:nvCxnSpPr>
        <p:spPr>
          <a:xfrm>
            <a:off x="0" y="1772089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4E4A4E2-D551-C667-123F-DEAEFFB296C3}"/>
              </a:ext>
            </a:extLst>
          </p:cNvPr>
          <p:cNvCxnSpPr>
            <a:cxnSpLocks/>
          </p:cNvCxnSpPr>
          <p:nvPr/>
        </p:nvCxnSpPr>
        <p:spPr>
          <a:xfrm>
            <a:off x="0" y="5056737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903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1F2F836-5535-8FC1-3012-34206B489D0B}"/>
              </a:ext>
            </a:extLst>
          </p:cNvPr>
          <p:cNvSpPr txBox="1"/>
          <p:nvPr/>
        </p:nvSpPr>
        <p:spPr>
          <a:xfrm>
            <a:off x="302418" y="4739501"/>
            <a:ext cx="95273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</a:p>
          <a:p>
            <a:r>
              <a:rPr lang="en-US" b="1" dirty="0">
                <a:solidFill>
                  <a:srgbClr val="00B050"/>
                </a:solidFill>
              </a:rPr>
              <a:t>High Recall (0.74):</a:t>
            </a:r>
            <a:r>
              <a:rPr lang="en-US" dirty="0">
                <a:solidFill>
                  <a:srgbClr val="00B050"/>
                </a:solidFill>
              </a:rPr>
              <a:t> </a:t>
            </a:r>
          </a:p>
          <a:p>
            <a:r>
              <a:rPr lang="en-US" dirty="0"/>
              <a:t>Student CAM-head captures most objects → less under-detection.</a:t>
            </a:r>
          </a:p>
          <a:p>
            <a:r>
              <a:rPr lang="en-US" b="1" dirty="0">
                <a:solidFill>
                  <a:srgbClr val="00B050"/>
                </a:solidFill>
              </a:rPr>
              <a:t>Good Precision (0.50):</a:t>
            </a:r>
            <a:r>
              <a:rPr lang="en-US" dirty="0">
                <a:solidFill>
                  <a:srgbClr val="00B050"/>
                </a:solidFill>
              </a:rPr>
              <a:t> </a:t>
            </a:r>
          </a:p>
          <a:p>
            <a:r>
              <a:rPr lang="en-US" dirty="0"/>
              <a:t>YOLO teacher generates reasonably clean pseudo-labels.</a:t>
            </a:r>
          </a:p>
          <a:p>
            <a:r>
              <a:rPr lang="en-US" b="1" dirty="0">
                <a:solidFill>
                  <a:srgbClr val="00B050"/>
                </a:solidFill>
              </a:rPr>
              <a:t>Balanced F1 (0.60):</a:t>
            </a:r>
            <a:r>
              <a:rPr lang="en-US" dirty="0">
                <a:solidFill>
                  <a:srgbClr val="00B050"/>
                </a:solidFill>
              </a:rPr>
              <a:t> </a:t>
            </a:r>
          </a:p>
          <a:p>
            <a:r>
              <a:rPr lang="en-US" dirty="0"/>
              <a:t>System is neither overly conservative nor overly permissive.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F5A85B-8F6F-E908-2004-38E4F820F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203" y="186439"/>
            <a:ext cx="4475162" cy="26587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BA0BD7-F9C7-75FF-D699-04F20A4D6BE0}"/>
              </a:ext>
            </a:extLst>
          </p:cNvPr>
          <p:cNvSpPr txBox="1"/>
          <p:nvPr/>
        </p:nvSpPr>
        <p:spPr>
          <a:xfrm>
            <a:off x="336285" y="260724"/>
            <a:ext cx="53043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Quantitative Results </a:t>
            </a:r>
          </a:p>
          <a:p>
            <a:pPr>
              <a:buNone/>
            </a:pPr>
            <a:r>
              <a:rPr lang="en-US" b="1" dirty="0"/>
              <a:t>(Training Metrics) 1st plot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Validation Loss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Loss stabilizes ~0.28 with fluctuations which are normal for an SSL.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Indicates consistent pseudo-label quality and stable teacher updates.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EAEB80-A9D8-4744-E051-B725B2DCF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203" y="2845212"/>
            <a:ext cx="4405579" cy="26174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49771A-2AED-636D-E648-443EF4D5E57C}"/>
              </a:ext>
            </a:extLst>
          </p:cNvPr>
          <p:cNvSpPr txBox="1"/>
          <p:nvPr/>
        </p:nvSpPr>
        <p:spPr>
          <a:xfrm>
            <a:off x="302418" y="2569048"/>
            <a:ext cx="583591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Detection Metrics Over Epochs</a:t>
            </a:r>
          </a:p>
          <a:p>
            <a:pPr>
              <a:buNone/>
            </a:pPr>
            <a:r>
              <a:rPr lang="en-US" b="1" dirty="0"/>
              <a:t> </a:t>
            </a:r>
          </a:p>
          <a:p>
            <a:pPr>
              <a:buNone/>
            </a:pPr>
            <a:r>
              <a:rPr lang="en-US" b="1" dirty="0"/>
              <a:t>(Evaluation Metrics) 2</a:t>
            </a:r>
            <a:r>
              <a:rPr lang="en-US" b="1" baseline="30000" dirty="0"/>
              <a:t>nd</a:t>
            </a:r>
            <a:r>
              <a:rPr lang="en-US" b="1" dirty="0"/>
              <a:t> plot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 mAP@50:</a:t>
            </a:r>
            <a:r>
              <a:rPr lang="en-US" sz="1600" dirty="0"/>
              <a:t> ~0.32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 mAP@50–95:</a:t>
            </a:r>
            <a:r>
              <a:rPr lang="en-US" sz="1600" dirty="0"/>
              <a:t> ~0.35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 Precision:</a:t>
            </a:r>
            <a:r>
              <a:rPr lang="en-US" sz="1600" dirty="0"/>
              <a:t> ~0.50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 Recall:</a:t>
            </a:r>
            <a:r>
              <a:rPr lang="en-US" sz="1600" dirty="0"/>
              <a:t> ~0.74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 F1 Score:</a:t>
            </a:r>
            <a:r>
              <a:rPr lang="en-US" sz="1600" dirty="0"/>
              <a:t> ~0.60</a:t>
            </a:r>
          </a:p>
        </p:txBody>
      </p:sp>
    </p:spTree>
    <p:extLst>
      <p:ext uri="{BB962C8B-B14F-4D97-AF65-F5344CB8AC3E}">
        <p14:creationId xmlns:p14="http://schemas.microsoft.com/office/powerpoint/2010/main" val="43519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DA6B3EE-6ECD-1343-1493-3755263EF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675" y="4780527"/>
            <a:ext cx="64749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CAM intensity ∝ object likelihood.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Spatial gradients enforce tighter localization over epochs.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Student becomes a strong </a:t>
            </a:r>
            <a:r>
              <a:rPr lang="en-US" altLang="en-US" dirty="0" err="1"/>
              <a:t>regularizer</a:t>
            </a:r>
            <a:r>
              <a:rPr lang="en-US" altLang="en-US" dirty="0"/>
              <a:t> (CAM localization reduces teacher false positives).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3958F6-6159-A0DB-BB3C-ABC63D7CCB0F}"/>
              </a:ext>
            </a:extLst>
          </p:cNvPr>
          <p:cNvSpPr txBox="1"/>
          <p:nvPr/>
        </p:nvSpPr>
        <p:spPr>
          <a:xfrm>
            <a:off x="203200" y="877144"/>
            <a:ext cx="60293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</a:lvl1pPr>
          </a:lstStyle>
          <a:p>
            <a:r>
              <a:rPr lang="en-US" b="1" dirty="0"/>
              <a:t>Training Loss Components</a:t>
            </a:r>
          </a:p>
          <a:p>
            <a:r>
              <a:rPr lang="en-US" dirty="0"/>
              <a:t>Teacher losses (YOLO):</a:t>
            </a:r>
          </a:p>
          <a:p>
            <a:pPr marL="0" indent="0">
              <a:buNone/>
            </a:pPr>
            <a:r>
              <a:rPr lang="en-US" dirty="0"/>
              <a:t>Classifier + </a:t>
            </a:r>
            <a:r>
              <a:rPr lang="en-US" dirty="0" err="1"/>
              <a:t>objectness</a:t>
            </a:r>
            <a:r>
              <a:rPr lang="en-US" dirty="0"/>
              <a:t> + box regression all steadily decreasing, showing consistent pseudo-label.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Student losses (ResNet50</a:t>
            </a:r>
            <a:r>
              <a:rPr lang="en-US" b="1" dirty="0">
                <a:latin typeface="Tomorrow" panose="020B0604020202020204" charset="0"/>
              </a:rPr>
              <a:t> + </a:t>
            </a:r>
            <a:r>
              <a:rPr lang="en-US" b="1" dirty="0" err="1">
                <a:latin typeface="Tomorrow" panose="020B0604020202020204" charset="0"/>
              </a:rPr>
              <a:t>GradCAM</a:t>
            </a:r>
            <a:r>
              <a:rPr lang="en-US" b="1" dirty="0">
                <a:latin typeface="Tomorrow" panose="020B0604020202020204" charset="0"/>
              </a:rPr>
              <a:t>++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dirty="0"/>
              <a:t>Lower magnitude → smoother gradients → acts as regularization for teacher.</a:t>
            </a:r>
          </a:p>
        </p:txBody>
      </p:sp>
      <p:pic>
        <p:nvPicPr>
          <p:cNvPr id="11" name="Picture 10" descr="A graph showing the loss of a number of individuals&#10;&#10;AI-generated content may be incorrect.">
            <a:extLst>
              <a:ext uri="{FF2B5EF4-FFF2-40B4-BE49-F238E27FC236}">
                <a16:creationId xmlns:a16="http://schemas.microsoft.com/office/drawing/2014/main" id="{75B6E4AD-A0D1-D2D7-D986-95A186EBC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675" y="626334"/>
            <a:ext cx="6029325" cy="35821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B29CB1-EC77-0CBE-6642-4878E7FC5AF1}"/>
              </a:ext>
            </a:extLst>
          </p:cNvPr>
          <p:cNvSpPr txBox="1"/>
          <p:nvPr/>
        </p:nvSpPr>
        <p:spPr>
          <a:xfrm>
            <a:off x="6646334" y="4208462"/>
            <a:ext cx="6587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Creating Bounding Boxes from Class Activation Maps</a:t>
            </a:r>
            <a:endParaRPr lang="en-US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CE7780B-DC1C-EA46-0DF1-0C3599E4E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3700631"/>
            <a:ext cx="589251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Stable convergence despite noisy unlabeled data due to: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EMA Teacher refinement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NMS + confidence threshold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CAM-based localization robustness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Balanced supervised + unsupervised loss 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754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599</Words>
  <Application>Microsoft Office PowerPoint</Application>
  <PresentationFormat>Widescreen</PresentationFormat>
  <Paragraphs>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Tomorrow</vt:lpstr>
      <vt:lpstr>Tomorrow Semi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Justin-Marian POPESCU (124443)</dc:creator>
  <cp:lastModifiedBy>Justin-Marian POPESCU (124443)</cp:lastModifiedBy>
  <cp:revision>1</cp:revision>
  <dcterms:created xsi:type="dcterms:W3CDTF">2025-12-09T14:54:26Z</dcterms:created>
  <dcterms:modified xsi:type="dcterms:W3CDTF">2025-12-09T15:56:56Z</dcterms:modified>
</cp:coreProperties>
</file>